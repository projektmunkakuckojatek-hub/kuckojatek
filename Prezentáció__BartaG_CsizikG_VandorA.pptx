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68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Nyitás: röviden mondd el, hogy ez a Kuckó Játék Webáruház Kft. hálózati vizsgaremekének bemutatója.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Emeld ki a projekt célját: biztonság, rendelkezésre állás, központi szolgáltatások, Home Office elérés.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Mutasd meg a Packet Tracer topológiát: központ, ASA, WAN-Router, Home Office.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Magyarázd el a VLAN-ok feladatát és a dual-stack IPv4/IPv6 címzést.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RSTP: L2 hurokvédelem; HSRP: közös virtuális átjáró és router kiesés elleni védelem.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OSPF a belső route-okhoz, statikus útvonal a tűzfal/WAN felé.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Wi-Fi a raktári mobil eszközöknek, VLAN20-ba integrálva.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ASA: PAT a klienseknek, statikus NAT a Linux webszervernek, ACL a külső forgalomra.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VPN: központ–Home Office, IKEv1 és IPsec paraméterek, crypto ACL.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Routerbiztonság: SSHv2, VTY access-class; automatizáció: Python/Netmiko.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Szerverek: Windows AD/DNS/DHCP/GPO/SMB, Linux Nginx és mentés.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kuckó_játék_ipari_park_látké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" y="0"/>
            <a:ext cx="1218552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777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Kuckó Játék Webáruház Kft.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13232" y="134416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F"/>
                </a:solidFill>
              </a:rPr>
              <a:t>Hálózati infrastruktúra tervezése és működése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13232" y="1874520"/>
            <a:ext cx="2011680" cy="0"/>
          </a:xfrm>
          <a:prstGeom prst="line">
            <a:avLst/>
          </a:prstGeom>
          <a:noFill/>
          <a:ln w="50800">
            <a:solidFill>
              <a:srgbClr val="4BAE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Projektcél és vállalati környezet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Fiktív e-kereskedelmi vállalkozás: online értékesítés, raktár, kiszállítás, belső irodák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38100">
            <a:solidFill>
              <a:srgbClr val="4BAE4F"/>
            </a:solidFill>
            <a:prstDash val="solid"/>
          </a:ln>
        </p:spPr>
      </p:sp>
      <p:pic>
        <p:nvPicPr>
          <p:cNvPr id="6" name="Image 0" descr="/mnt/data/kuckó_játék_ipari_park_látké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945206"/>
            <a:ext cx="5029200" cy="28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417320"/>
            <a:ext cx="539496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biztonságos és magas rendelkezésre állású infrastruktúra.
</a:t>
            </a:r>
            <a:endParaRPr lang="en-US" sz="1500" dirty="0"/>
          </a:p>
          <a:p>
            <a:r>
              <a:rPr lang="en-US" sz="150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Három fő belső részleg: ügyfélszolgálat, raktár/logisztika, vezetőség és szerverek.
</a:t>
            </a:r>
            <a:endParaRPr lang="en-US" sz="1500" dirty="0"/>
          </a:p>
          <a:p>
            <a:r>
              <a:rPr lang="en-US" sz="150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Office egység WAN-on keresztül, IPsec VPN kapcsolattal.
</a:t>
            </a:r>
            <a:endParaRPr lang="en-US" sz="1500" dirty="0"/>
          </a:p>
          <a:p>
            <a:r>
              <a:rPr lang="en-US" sz="150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Központi szolgáltatások: AD, DNS, DHCP, web, fájl- és nyomtatómegosztás, mentés.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4BAE4F"/>
                </a:solidFill>
              </a:rPr>
              <a:t>4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31520" y="4709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</a:rPr>
              <a:t>belső VLAN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24028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E5B8C"/>
                </a:solidFill>
              </a:rPr>
              <a:t>2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2194560" y="4709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</a:rPr>
              <a:t>router: R1/R2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70332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5A623"/>
                </a:solidFill>
              </a:rPr>
              <a:t>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</a:rPr>
              <a:t>Cisco ASA tűzfal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166360" y="4297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B1F3A"/>
                </a:solidFill>
              </a:rPr>
              <a:t>2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5120640" y="47091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B6770"/>
                </a:solidFill>
              </a:rPr>
              <a:t>szerver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92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0A0"/>
                </a:solidFill>
              </a:rPr>
              <a:t>Kuckó Játék Webáruház Kft. | Hálózati vizsgaremek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Topológia és hálózati kapcsolatok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A központi hálózat, WAN és Home Office kapcsolata egy Packet Tracer prototípusban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38100">
            <a:solidFill>
              <a:srgbClr val="4BAE4F"/>
            </a:solidFill>
            <a:prstDash val="solid"/>
          </a:ln>
        </p:spPr>
      </p:sp>
      <p:pic>
        <p:nvPicPr>
          <p:cNvPr id="6" name="Image 0" descr="/mnt/data/docx_extract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89519"/>
            <a:ext cx="11430000" cy="47647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5833872"/>
            <a:ext cx="3200400" cy="329184"/>
          </a:xfrm>
          <a:prstGeom prst="roundRect">
            <a:avLst>
              <a:gd name="adj" fmla="val 22222"/>
            </a:avLst>
          </a:prstGeom>
          <a:solidFill>
            <a:srgbClr val="1E5B8C"/>
          </a:solidFill>
          <a:ln w="12700">
            <a:solidFill>
              <a:srgbClr val="1E5B8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" y="590702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Központi telephely: VLAN-ok + szerverzóna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132320" y="1143000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05472" y="1216152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Cisco ASA: peremvédelem + NAT + VPN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509760" y="2057400"/>
            <a:ext cx="1965960" cy="329184"/>
          </a:xfrm>
          <a:prstGeom prst="roundRect">
            <a:avLst>
              <a:gd name="adj" fmla="val 22222"/>
            </a:avLst>
          </a:prstGeom>
          <a:solidFill>
            <a:srgbClr val="4BAE4F"/>
          </a:solidFill>
          <a:ln w="12700">
            <a:solidFill>
              <a:srgbClr val="4BAE4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82912" y="213055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Home Office: 172.16.10.0/24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0A0"/>
                </a:solidFill>
              </a:rPr>
              <a:t>Kuckó Játék Webáruház Kft. | Hálózati vizsgaremek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Logikai felépítés: VLAN-ok és címzés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Szegmentáció biztonsági, üzemeltetési és skálázhatósági okból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38100">
            <a:solidFill>
              <a:srgbClr val="4BAE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128016" cy="841248"/>
          </a:xfrm>
          <a:prstGeom prst="rect">
            <a:avLst/>
          </a:prstGeom>
          <a:solidFill>
            <a:srgbClr val="1E5B8C"/>
          </a:solidFill>
          <a:ln w="12700">
            <a:solidFill>
              <a:srgbClr val="1E5B8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4356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5B8C"/>
                </a:solidFill>
              </a:rPr>
              <a:t>VLAN 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14356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Ügyfélszolgálat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7830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192.168.10.0/24  |  2001:db8:abcd:10::/64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77440"/>
            <a:ext cx="128016" cy="841248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487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AE4F"/>
                </a:solidFill>
              </a:rPr>
              <a:t>VLAN 20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57400" y="248716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Raktár + Wi-Fi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83464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192.168.20.0/24  |  2001:db8:abcd:20::/64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29000"/>
            <a:ext cx="128016" cy="8412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5387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VLAN 30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57400" y="35387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Vezetőség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8862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192.168.30.0/24  |  2001:db8:abcd:30::/64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5800" y="4480560"/>
            <a:ext cx="5166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480560"/>
            <a:ext cx="128016" cy="841248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590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5B95"/>
                </a:solidFill>
              </a:rPr>
              <a:t>VLAN 40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57400" y="4590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Szerver zóna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493776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192.168.40.0/24  |  2001:db8:abcd:40::/64</a:t>
            </a:r>
            <a:endParaRPr lang="en-US" sz="1050" dirty="0"/>
          </a:p>
        </p:txBody>
      </p:sp>
      <p:pic>
        <p:nvPicPr>
          <p:cNvPr id="26" name="Image 0" descr="/mnt/data/docx_extract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1929384"/>
            <a:ext cx="5696124" cy="2752344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382043" y="5692140"/>
            <a:ext cx="507492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0" y="5694875"/>
            <a:ext cx="73152" cy="59436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0" y="57607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Virtuális átjárók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583680" y="6126480"/>
            <a:ext cx="475488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A kliensek minden VLAN-ban HSRP virtuális átjárót kapnak: 192.168.x.1. A szerverek statikus, a kliensek DHCP-s címzést használnak.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0292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0A0"/>
                </a:solidFill>
              </a:rPr>
              <a:t>Kuckó Játék Webáruház Kft. | Hálózati vizsgaremek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080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Redundancia: RSTP és HSRP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Második és harmadik rétegbeli hibatűrés a központi hálózatban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38100">
            <a:solidFill>
              <a:srgbClr val="4BAE4F"/>
            </a:solidFill>
            <a:prstDash val="solid"/>
          </a:ln>
        </p:spPr>
      </p:sp>
      <p:pic>
        <p:nvPicPr>
          <p:cNvPr id="6" name="Image 0" descr="/mnt/data/docx_extract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02" y="1844431"/>
            <a:ext cx="6022011" cy="27458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29400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5B8C"/>
                </a:solidFill>
              </a:rPr>
              <a:t>L2: RSTP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086600" y="2971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B8C"/>
                </a:solidFill>
              </a:rPr>
              <a:t>▣ SW1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31586" y="295226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B8C"/>
                </a:solidFill>
              </a:rPr>
              <a:t>▣ SW2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0" y="2235395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5B8C"/>
                </a:solidFill>
              </a:rPr>
              <a:t>▣ SW3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829800" y="2382520"/>
            <a:ext cx="1417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2263A"/>
                </a:solidFill>
              </a:rPr>
              <a:t>Hurokmentes gerinc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2263A"/>
                </a:solidFill>
              </a:rPr>
              <a:t>blokkolt tartalék úttal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29400" y="3977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BAE4F"/>
                </a:solidFill>
              </a:rPr>
              <a:t>L3: HSRP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858000" y="4590288"/>
            <a:ext cx="1005840" cy="438912"/>
          </a:xfrm>
          <a:prstGeom prst="roundRect">
            <a:avLst>
              <a:gd name="adj" fmla="val 20833"/>
            </a:avLst>
          </a:prstGeom>
          <a:solidFill>
            <a:srgbClr val="4BAE4F"/>
          </a:solidFill>
          <a:ln w="12700">
            <a:solidFill>
              <a:srgbClr val="4BAE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47091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R1 aktív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206740" y="4590288"/>
            <a:ext cx="1143000" cy="438912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6510">
            <a:solidFill>
              <a:srgbClr val="4BAE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83880" y="4722563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BAE4F"/>
                </a:solidFill>
              </a:rPr>
              <a:t>R2 standby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829800" y="4434840"/>
            <a:ext cx="16002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Virtuális átjáró: 192.168.x.1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R1 priority 110 + preempt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0A0"/>
                </a:solidFill>
              </a:rPr>
              <a:t>Kuckó Játék Webáruház Kft. | Hálózati vizsgaremek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Forgalomirányítás és WAN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OSPF a belső routerek között, statikus útvonalak a WAN és az ASA felé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38100">
            <a:solidFill>
              <a:srgbClr val="4BAE4F"/>
            </a:solidFill>
            <a:prstDash val="solid"/>
          </a:ln>
        </p:spPr>
      </p:sp>
      <p:pic>
        <p:nvPicPr>
          <p:cNvPr id="6" name="Image 0" descr="/mnt/data/docx_extract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520" y="1865376"/>
            <a:ext cx="5440680" cy="28213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325880"/>
            <a:ext cx="498348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325880"/>
            <a:ext cx="73152" cy="1051560"/>
          </a:xfrm>
          <a:prstGeom prst="rect">
            <a:avLst/>
          </a:prstGeom>
          <a:solidFill>
            <a:srgbClr val="1E5B8C"/>
          </a:solidFill>
          <a:ln w="12700">
            <a:solidFill>
              <a:srgbClr val="1E5B8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4630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Dinamikus routing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OSPF Area 0: VLAN 10–40, R1–R2 pont-pont linkek és loopback azonosítók hirdetése.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697480"/>
            <a:ext cx="498348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697480"/>
            <a:ext cx="73152" cy="105156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834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Statikus útvonalak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R1/R2 alapértelmezett útvonala az ASA felé. A WAN-Router statikus útvonalakkal szimulálja a szolgáltatói hálózatot.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4069080"/>
            <a:ext cx="498348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4069080"/>
            <a:ext cx="73152" cy="1051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2062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WAN címzés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" y="4572000"/>
            <a:ext cx="4663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ASA–WAN: 203.0.113.0/29; WAN–Home-Router: 198.51.100.0/30; Home Office LAN: 172.16.10.0/24.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0A0"/>
                </a:solidFill>
              </a:rPr>
              <a:t>Kuckó Játék Webáruház Kft. | Hálózati vizsgaremek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Vezeték nélküli hálózat a raktárban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Mobil eszközök támogatása a logisztikai folyamatokhoz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38100">
            <a:solidFill>
              <a:srgbClr val="4BAE4F"/>
            </a:solidFill>
            <a:prstDash val="solid"/>
          </a:ln>
        </p:spPr>
      </p:sp>
      <p:pic>
        <p:nvPicPr>
          <p:cNvPr id="6" name="Image 0" descr="/mnt/data/docx_extract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38216"/>
            <a:ext cx="5669280" cy="28723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66560" y="1325880"/>
            <a:ext cx="438912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Raktári Wi-Fi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178040" y="2240280"/>
            <a:ext cx="33832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SSID: Kucko-Raktar-WiFi
</a:t>
            </a:r>
            <a:endParaRPr lang="en-US" sz="1400" dirty="0"/>
          </a:p>
          <a:p>
            <a:r>
              <a:rPr lang="en-US" sz="140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Biztonság: WPA2-PSK (AES)
</a:t>
            </a:r>
            <a:endParaRPr lang="en-US" sz="1400" dirty="0"/>
          </a:p>
          <a:p>
            <a:r>
              <a:rPr lang="en-US" sz="140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VLAN 20-hoz kapcsolt Access Point
</a:t>
            </a:r>
            <a:endParaRPr lang="en-US" sz="1400" dirty="0"/>
          </a:p>
          <a:p>
            <a:r>
              <a:rPr lang="en-US" sz="140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Tablet és vonalkód-olvasó DHCP-címmel
</a:t>
            </a:r>
            <a:endParaRPr lang="en-US" sz="1400" dirty="0"/>
          </a:p>
          <a:p>
            <a:r>
              <a:rPr lang="en-US" sz="1400" dirty="0">
                <a:solidFill>
                  <a:srgbClr val="12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Cél: logisztika, árukezelés, mobil munkavégzés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178040" y="4800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BAE4F"/>
                </a:solidFill>
              </a:rPr>
              <a:t>Wi‑Fi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0A0"/>
                </a:solidFill>
              </a:rPr>
              <a:t>Kuckó Játék Webáruház Kft. | Hálózati vizsgaremek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Peremvédelem: Cisco ASA, ACL, NAT/PAT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A tűzfal egyszerre lát el szűrési, címfordítási és VPN-végpont szerepet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38100">
            <a:solidFill>
              <a:srgbClr val="4BAE4F"/>
            </a:solidFill>
            <a:prstDash val="solid"/>
          </a:ln>
        </p:spPr>
      </p:sp>
      <p:pic>
        <p:nvPicPr>
          <p:cNvPr id="6" name="Image 0" descr="/mnt/data/wide_clean_vector_3d_styled_infographic_scene_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50729"/>
            <a:ext cx="6309360" cy="35509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417320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83680" y="1417320"/>
            <a:ext cx="73152" cy="777240"/>
          </a:xfrm>
          <a:prstGeom prst="rect">
            <a:avLst/>
          </a:prstGeom>
          <a:solidFill>
            <a:srgbClr val="1E5B8C"/>
          </a:solidFill>
          <a:ln w="12700">
            <a:solidFill>
              <a:srgbClr val="1E5B8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0" y="1554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Dinamikus PAT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0" y="1920240"/>
            <a:ext cx="4572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VLAN 10, 20, 30 és 40 belső hálózatok → ASA outside interfészcíme.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0" y="2423160"/>
            <a:ext cx="489204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2423160"/>
            <a:ext cx="73152" cy="77724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2560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Statikus NAT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66560" y="2926080"/>
            <a:ext cx="457200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Linux webszerver: 192.168.40.20 → 203.0.113.3 publikus cím.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429000"/>
            <a:ext cx="48920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3429000"/>
            <a:ext cx="73152" cy="868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3566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OUTSIDE-IN ACL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6656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Külső irányból csak a szükséges szolgáltatások engedélyezése: HTTP és teszteléshez ICMP.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83680" y="4572000"/>
            <a:ext cx="489204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0" y="4572000"/>
            <a:ext cx="73152" cy="86868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0" y="4709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Miért /29?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766560" y="5074920"/>
            <a:ext cx="4572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A 203.0.113.0/29 szakasz külön címet biztosít az ASA-nak és a publikált webszervernek.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0A0"/>
                </a:solidFill>
              </a:rPr>
              <a:t>Kuckó Játék Webáruház Kft. | Hálózati vizsgaremek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Site-to-Site IPsec VPN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Biztonságos kapcsolat a központ és a Home Office hálózat között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38100">
            <a:solidFill>
              <a:srgbClr val="4BAE4F"/>
            </a:solidFill>
            <a:prstDash val="solid"/>
          </a:ln>
        </p:spPr>
      </p:sp>
      <p:pic>
        <p:nvPicPr>
          <p:cNvPr id="6" name="Image 0" descr="/mnt/data/wide_clean_vector_3d_styled_infographic_scene_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39514"/>
            <a:ext cx="5120640" cy="28818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32588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325880"/>
            <a:ext cx="73152" cy="1051560"/>
          </a:xfrm>
          <a:prstGeom prst="rect">
            <a:avLst/>
          </a:prstGeom>
          <a:solidFill>
            <a:srgbClr val="1E5B8C"/>
          </a:solidFill>
          <a:ln w="12700">
            <a:solidFill>
              <a:srgbClr val="1E5B8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463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VPN végpontok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Központ: Cisco ASA 203.0.113.1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Home Office: Home-Router 198.51.100.2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60604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606040"/>
            <a:ext cx="73152" cy="86868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7432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Home Office LAN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3108960"/>
            <a:ext cx="4937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172.16.10.0/24 – távoli munkavégzés, Home-PC: 172.16.10.10.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370332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3703320"/>
            <a:ext cx="73152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8404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IKE/IPsec paraméterek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IKEv1, pre-shared key, AES titkosítás, Diffie-Hellman group 2, ESP-AES + ESP-SHA-HMAC.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493776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4937760"/>
            <a:ext cx="73152" cy="868680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" y="5074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Titkosítandó forgalom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4937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A központi VLAN-ok és a Home Office hálózat közötti forgalom crypto ACL alapján kerül az alagútba.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0A0"/>
                </a:solidFill>
              </a:rPr>
              <a:t>Kuckó Játék Webáruház Kft. | Hálózati vizsgaremek |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hu-HU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Routerbiztonság és programozott konfiguráció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Biztonságos menedzsment és automatizálható hálózati üzemeltetés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38100">
            <a:solidFill>
              <a:srgbClr val="4BAE4F"/>
            </a:solidFill>
            <a:prstDash val="solid"/>
          </a:ln>
        </p:spPr>
      </p:sp>
      <p:pic>
        <p:nvPicPr>
          <p:cNvPr id="6" name="Image 0" descr="/mnt/data/wide_clean_vector_flat_illustration_of_a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63702"/>
            <a:ext cx="5715000" cy="321639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371600"/>
            <a:ext cx="49834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371600"/>
            <a:ext cx="73152" cy="914400"/>
          </a:xfrm>
          <a:prstGeom prst="rect">
            <a:avLst/>
          </a:prstGeom>
          <a:solidFill>
            <a:srgbClr val="1E5B8C"/>
          </a:solidFill>
          <a:ln w="12700">
            <a:solidFill>
              <a:srgbClr val="1E5B8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508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SSHv2 menedzsment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Az R1 távoli adminisztrációja SSHv2-n történik, local admin felhasználóval, Telnet nélkül.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" y="2560320"/>
            <a:ext cx="498348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560320"/>
            <a:ext cx="73152" cy="96012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697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VTY ACL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A 10-es standard ACL csak a vezetőségi VLAN-ból engedi a menedzsment-hozzáférést: 192.168.30.0/24.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3840480"/>
            <a:ext cx="498348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3840480"/>
            <a:ext cx="73152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39776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Python + Netmiko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8680" y="4343400"/>
            <a:ext cx="4663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A szkript SSH-n keresztül lekérdezi az interfészek állapotát, majd példaként Loopback interfészt hoz létre és menti a konfigurációt.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0A0"/>
                </a:solidFill>
              </a:rPr>
              <a:t>Kuckó Játék Webáruház Kft. | Hálózati vizsgaremek | </a:t>
            </a:r>
            <a:r>
              <a:rPr lang="hu-HU" sz="750" dirty="0">
                <a:solidFill>
                  <a:srgbClr val="8290A0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Szerverinfrastruktúra és szolgáltatások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0"/>
                </a:solidFill>
              </a:rPr>
              <a:t>A VLAN 40 szerverzóna biztosítja a központi vállalati szolgáltatásokat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069848"/>
            <a:ext cx="1828800" cy="0"/>
          </a:xfrm>
          <a:prstGeom prst="line">
            <a:avLst/>
          </a:prstGeom>
          <a:noFill/>
          <a:ln w="38100">
            <a:solidFill>
              <a:srgbClr val="4BAE4F"/>
            </a:solidFill>
            <a:prstDash val="solid"/>
          </a:ln>
        </p:spPr>
      </p:sp>
      <p:pic>
        <p:nvPicPr>
          <p:cNvPr id="6" name="Image 0" descr="/mnt/data/a_wide_cinematic_clean_modern_server_room_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2180"/>
            <a:ext cx="6217920" cy="34994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0" y="1371600"/>
            <a:ext cx="498348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92240" y="1371600"/>
            <a:ext cx="73152" cy="1188720"/>
          </a:xfrm>
          <a:prstGeom prst="rect">
            <a:avLst/>
          </a:prstGeom>
          <a:solidFill>
            <a:srgbClr val="1E5B8C"/>
          </a:solidFill>
          <a:ln w="12700">
            <a:solidFill>
              <a:srgbClr val="1E5B8C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1508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Windows Server – 192.168.40.10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75120" y="1874520"/>
            <a:ext cx="4663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Active Directory, DNS, DHCP, SMB fájl- és nyomtatómegosztás, GPO alapú szoftvertelepítés.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92240" y="2834640"/>
            <a:ext cx="498348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2834640"/>
            <a:ext cx="73152" cy="1005840"/>
          </a:xfrm>
          <a:prstGeom prst="rect">
            <a:avLst/>
          </a:prstGeom>
          <a:solidFill>
            <a:srgbClr val="4BAE4F"/>
          </a:solidFill>
          <a:ln w="12700">
            <a:solidFill>
              <a:srgbClr val="4BAE4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29718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Linux Server – 192.168.40.20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75120" y="3337560"/>
            <a:ext cx="46634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Nginx HTTP/HTTPS webszerver a webáruházhoz, statikus NAT-tal publikálva.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92240" y="4160520"/>
            <a:ext cx="4983480" cy="1143000"/>
          </a:xfrm>
          <a:prstGeom prst="roundRect">
            <a:avLst>
              <a:gd name="adj" fmla="val 8000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CE6E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92240" y="4160520"/>
            <a:ext cx="73152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75120" y="42976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Automatizált mentés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75120" y="4663440"/>
            <a:ext cx="4663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2263A"/>
                </a:solidFill>
              </a:rPr>
              <a:t>Bash script + cron: webgyökér és Nginx konfiguráció mentése, 7 napnál régebbi archívumok törlése.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0A0"/>
                </a:solidFill>
              </a:rPr>
              <a:t>Kuckó Játék Webáruház Kft. | Hálózati vizsgaremek | </a:t>
            </a:r>
            <a:r>
              <a:rPr lang="hu-HU" sz="750" dirty="0">
                <a:solidFill>
                  <a:srgbClr val="8290A0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965</Words>
  <Application>Microsoft Office PowerPoint</Application>
  <PresentationFormat>Szélesvásznú</PresentationFormat>
  <Paragraphs>136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Kuckó Játék Webáruház Kft.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Kuckó Játék Webáruház Kft. – hálózati projektmunka</dc:title>
  <dc:subject>Kuckó Játék Webáruház Kft. – szóbeli vizsga prezentáció</dc:subject>
  <dc:creator>OpenAI</dc:creator>
  <cp:lastModifiedBy>Vándor Attila</cp:lastModifiedBy>
  <cp:revision>3</cp:revision>
  <dcterms:created xsi:type="dcterms:W3CDTF">2026-09-06T11:25:58Z</dcterms:created>
  <dcterms:modified xsi:type="dcterms:W3CDTF">2026-09-10T14:11:52Z</dcterms:modified>
</cp:coreProperties>
</file>